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3" r:id="rId4"/>
    <p:sldId id="276" r:id="rId5"/>
    <p:sldId id="277" r:id="rId6"/>
    <p:sldId id="280" r:id="rId7"/>
    <p:sldId id="264" r:id="rId8"/>
    <p:sldId id="278" r:id="rId9"/>
    <p:sldId id="281" r:id="rId10"/>
    <p:sldId id="282" r:id="rId11"/>
    <p:sldId id="265" r:id="rId12"/>
    <p:sldId id="279" r:id="rId13"/>
    <p:sldId id="283" r:id="rId14"/>
    <p:sldId id="284" r:id="rId15"/>
    <p:sldId id="285" r:id="rId16"/>
    <p:sldId id="273" r:id="rId17"/>
    <p:sldId id="272" r:id="rId18"/>
    <p:sldId id="267" r:id="rId19"/>
    <p:sldId id="268" r:id="rId20"/>
    <p:sldId id="274" r:id="rId21"/>
    <p:sldId id="261" r:id="rId22"/>
    <p:sldId id="269" r:id="rId23"/>
    <p:sldId id="270" r:id="rId24"/>
    <p:sldId id="271" r:id="rId25"/>
    <p:sldId id="275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0A5CB-2FCB-4CBA-AC81-E9715C0DC56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99B50-DF8F-4F7A-90D7-A350BA6E1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1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covariance / 1 sigma is estimated from the cloud of position states, not the covariance (P), so it’s based off the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99B50-DF8F-4F7A-90D7-A350BA6E1C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59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Problem 3, despite using LAMBDA and improving perceived confidence (1 sigma), had worse errors. Overall, each iteration got further from the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99B50-DF8F-4F7A-90D7-A350BA6E1C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22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99B50-DF8F-4F7A-90D7-A350BA6E1C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60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satellite clock model and transmit time update, they were in lecture 13 and 14 (mainly 14)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99B50-DF8F-4F7A-90D7-A350BA6E1C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3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99F3-E597-EACB-64C5-4375F2C3C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89911-8DE0-0F7B-18E6-62420C2DE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28BE1-499F-491B-CC92-4D7C7511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B52E-7582-F618-7815-9560FA1F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F5F66-9FEA-516D-D87E-47064210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7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861A-7F63-851D-171A-7642A748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2B58C-F3F7-94DB-65CC-F8641BA6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F889-5830-07BC-63B3-49D7F8C6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4FBA-5AA7-224D-58DB-6D9DD2D1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AA69-5A8F-51A4-5C64-C91827B1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BB63-C525-98AD-ACDB-6FAAAC7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20E1D-F500-12A3-5732-2EC2622E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128CC-66CA-9544-D6EF-FCBDA598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C51E8-9E4F-988D-3335-08AEF538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EA030-E57D-47EE-B6B2-5FF2D360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3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B038-01E6-6B1F-8305-45085635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6FC3-0636-A54E-9CC1-9038B4B14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B6B2-2F85-E8F8-CB0B-3E703240E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91D12-E28A-1D66-F8FE-CE862689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6A1A6-B067-9D14-DDA4-C0497944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168F9-6301-F14B-C98A-E9883C1C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8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EFDE-15E8-B9A7-0D23-1522E521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4823F-F8A7-1203-73F7-EFD71F0DB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88DF3-7AFF-5585-549E-A7E219874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17090-E0B9-39D3-E489-BFBCC1A6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8FA13-BCE7-C392-E229-8D2D6967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C1CD5-F5DA-4FE4-D67E-FF1D9C9F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E9FF3-F9CD-DDB6-CCBA-0D260535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D9EAF-4F7B-68D7-88BC-29119354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2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0FF0-C212-1B08-C383-371FBE69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9C1E3-7DD1-1510-F5AD-62AEDD81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589B7-DC3D-41E3-DFB0-715C5101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76961-7CBB-62E1-D655-DE2ECFED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CAAFD-B93C-4298-381E-F52409A7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F2B36-F83D-FA62-0639-96B28048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D0C5F-C29E-7A96-515E-BD5252DE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7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2305-6A60-748C-3A28-5C412188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3AB8-9B79-82BE-D75F-3858789F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E510C-7829-53BB-B73B-44D7EA17F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7F0D0-1E4C-A920-A33A-69C4755F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A2F01-2374-6F0A-BE38-CE51F209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44E4F-425D-F361-DC50-5157509A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2E92-D5F1-FF0B-9F9D-03E38FE2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47252-60B6-9654-D9BC-7F1F1E493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F17B2-7E83-F442-D31C-6F67A50C0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83BDA-DCD9-85CF-C2D6-76DBF4B9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4038-4F89-1028-7B55-9627D20B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EA7E4-59B6-3A94-E246-9B4082CB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96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776C-FDD0-ECD9-B016-C8E5B1E5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0FA08-1BFC-418A-4CA5-3DA802F8B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C82A7-3EFE-5998-B756-40BB876D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1D1A6-87F0-A743-444C-959C4B50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17971-D952-8106-F071-6ACC34E7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7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24758-3674-A030-51DD-9D550B147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27591-FD7B-3FA4-2819-ED9583E2F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A84A2-2B73-A0F7-B638-4AF38AB9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434F-BC62-5084-B2F4-D2E72819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8C3E2-D72F-42EE-7E63-301C8D38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2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FC7498-6D1D-625D-0B5B-E20B35CDA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580B2-28D2-E90B-6476-4B83807B0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2F69-0238-E99C-91A4-2827915A9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2AB1B-3FE8-4553-86B3-959E272A14F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140A1-1A88-6C90-B9FD-38B4DE13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D6DD-33DA-4621-C7C8-C56D710FD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12761-B059-41AE-9467-5496B8B9E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2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5A9B-33B0-6FFA-9FF2-D19F8B252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MMAE 555</a:t>
            </a:r>
            <a:br>
              <a:rPr lang="en-US" dirty="0"/>
            </a:br>
            <a:r>
              <a:rPr lang="en-US" dirty="0"/>
              <a:t>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21FFC-3D57-E982-948D-84C0A6491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Jonah Wilkes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8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99F1-09F1-B075-36EC-8E9DBFB2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5CDF3-3143-0CBF-2DBA-799FC8FC3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GNSS data set with two closely spaced antennas</a:t>
            </a:r>
          </a:p>
          <a:p>
            <a:pPr lvl="1"/>
            <a:r>
              <a:rPr lang="en-US" dirty="0"/>
              <a:t>Antenna 1: reference receiver</a:t>
            </a:r>
          </a:p>
          <a:p>
            <a:pPr lvl="1"/>
            <a:r>
              <a:rPr lang="en-US" dirty="0"/>
              <a:t>Antenna 2: user receiver</a:t>
            </a:r>
          </a:p>
          <a:p>
            <a:pPr lvl="1"/>
            <a:endParaRPr lang="en-US" dirty="0"/>
          </a:p>
          <a:p>
            <a:r>
              <a:rPr lang="en-US" dirty="0"/>
              <a:t>Data:</a:t>
            </a:r>
          </a:p>
          <a:p>
            <a:pPr lvl="1"/>
            <a:r>
              <a:rPr lang="en-US" dirty="0"/>
              <a:t>RINEX</a:t>
            </a:r>
          </a:p>
          <a:p>
            <a:pPr lvl="2"/>
            <a:r>
              <a:rPr lang="en-US" dirty="0"/>
              <a:t>RinexObsSample-1.txt</a:t>
            </a:r>
          </a:p>
          <a:p>
            <a:pPr lvl="2"/>
            <a:r>
              <a:rPr lang="en-US" dirty="0"/>
              <a:t>RinexObsSample-2.txt</a:t>
            </a:r>
          </a:p>
          <a:p>
            <a:pPr lvl="1"/>
            <a:r>
              <a:rPr lang="en-US" dirty="0"/>
              <a:t>Broadcast Navigation Files:</a:t>
            </a:r>
          </a:p>
          <a:p>
            <a:pPr lvl="2"/>
            <a:r>
              <a:rPr lang="en-US" dirty="0"/>
              <a:t>SEPT1250.25N 	(GPS, L1/L2)</a:t>
            </a:r>
          </a:p>
          <a:p>
            <a:pPr lvl="2"/>
            <a:r>
              <a:rPr lang="en-US" dirty="0"/>
              <a:t>SEPT1250.25L 	(Galileo, E1/E5)</a:t>
            </a:r>
          </a:p>
          <a:p>
            <a:pPr lvl="2"/>
            <a:endParaRPr lang="en-US" dirty="0"/>
          </a:p>
          <a:p>
            <a:r>
              <a:rPr lang="en-US" dirty="0"/>
              <a:t>Goal: Implement five positioning methods of increasing complexity</a:t>
            </a:r>
          </a:p>
          <a:p>
            <a:pPr lvl="1"/>
            <a:r>
              <a:rPr lang="en-US" dirty="0"/>
              <a:t>Problems 1–3: differential baseline estimation of Antenna 2 relative to Antenna 1</a:t>
            </a:r>
          </a:p>
          <a:p>
            <a:pPr lvl="1"/>
            <a:r>
              <a:rPr lang="en-US" dirty="0"/>
              <a:t>Problems 4–5: absolute stand-alone position of Antenna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29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6301-1892-81AB-968F-94E2A76D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1: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B32D7-60F6-A51E-8FA2-E739E055D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Goal: </a:t>
                </a:r>
              </a:p>
              <a:p>
                <a:pPr lvl="1"/>
                <a:r>
                  <a:rPr lang="en-US" dirty="0"/>
                  <a:t>Estimate the relative ENU position of Antenna 2 </a:t>
                </a:r>
                <a:r>
                  <a:rPr lang="en-US" dirty="0" err="1"/>
                  <a:t>w.r.t.</a:t>
                </a:r>
                <a:r>
                  <a:rPr lang="en-US" dirty="0"/>
                  <a:t> Antenna 1 using single-difference </a:t>
                </a:r>
                <a:r>
                  <a:rPr lang="en-US" dirty="0" err="1"/>
                  <a:t>pseudoranges</a:t>
                </a:r>
                <a:r>
                  <a:rPr lang="en-US" dirty="0"/>
                  <a:t> only</a:t>
                </a:r>
              </a:p>
              <a:p>
                <a:pPr lvl="1"/>
                <a:r>
                  <a:rPr lang="en-US" dirty="0"/>
                  <a:t>0.5 - 1 m RMS (horizontal)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Approach:</a:t>
                </a:r>
                <a:endParaRPr lang="en-US" dirty="0"/>
              </a:p>
              <a:p>
                <a:pPr lvl="1"/>
                <a:r>
                  <a:rPr lang="en-US" dirty="0"/>
                  <a:t>Use RINEX </a:t>
                </a:r>
                <a:r>
                  <a:rPr lang="en-US" dirty="0" err="1"/>
                  <a:t>pseudorange</a:t>
                </a:r>
                <a:r>
                  <a:rPr lang="en-US" dirty="0"/>
                  <a:t> C1C data from both antennas.</a:t>
                </a:r>
              </a:p>
              <a:p>
                <a:pPr lvl="1"/>
                <a:r>
                  <a:rPr lang="en-US" dirty="0"/>
                  <a:t>Form single-difference measurement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𝜌</m:t>
                        </m:r>
                      </m:e>
                      <m:sub>
                        <m:r>
                          <a:rPr lang="ar-AE" i="1"/>
                          <m:t>𝑆𝐷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𝜌</m:t>
                        </m:r>
                      </m:e>
                      <m:sub>
                        <m:r>
                          <a:rPr lang="ar-AE" i="1"/>
                          <m:t>𝑢</m:t>
                        </m:r>
                      </m:sub>
                    </m:sSub>
                    <m:r>
                      <a:rPr lang="ar-AE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𝜌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/>
                  <a:t>Use broadcast ephemeris to compute satellite positions.</a:t>
                </a:r>
              </a:p>
              <a:p>
                <a:pPr lvl="1"/>
                <a:r>
                  <a:rPr lang="en-US" dirty="0"/>
                  <a:t>Build geometry matrix from line-of-sight vectors at each epoch.</a:t>
                </a:r>
              </a:p>
              <a:p>
                <a:pPr lvl="1"/>
                <a:r>
                  <a:rPr lang="en-US" dirty="0"/>
                  <a:t>Solve epoch-by-epoch Least Squares → baseline + clock offset.</a:t>
                </a:r>
              </a:p>
              <a:p>
                <a:pPr lvl="1"/>
                <a:r>
                  <a:rPr lang="en-US" dirty="0"/>
                  <a:t>Convert baseline from ECEF → ENU.</a:t>
                </a:r>
              </a:p>
              <a:p>
                <a:pPr lvl="1"/>
                <a:r>
                  <a:rPr lang="en-US" dirty="0"/>
                  <a:t>Compute mean, covariance, and RMS error vs. truth ENU.</a:t>
                </a:r>
              </a:p>
              <a:p>
                <a:r>
                  <a:rPr lang="en-US" b="1" dirty="0"/>
                  <a:t>Decisions:</a:t>
                </a:r>
                <a:endParaRPr lang="en-US" dirty="0"/>
              </a:p>
              <a:p>
                <a:pPr lvl="1"/>
                <a:r>
                  <a:rPr lang="en-US" dirty="0"/>
                  <a:t>No smoothing or filtering (yet)</a:t>
                </a:r>
              </a:p>
              <a:p>
                <a:pPr lvl="1"/>
                <a:r>
                  <a:rPr lang="en-US" dirty="0"/>
                  <a:t>Satellite selection based only on data availability (≥ 4 satellites).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B32D7-60F6-A51E-8FA2-E739E055D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34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7807-B0B5-F316-EF7A-7AC1EC46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Method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2CF163-D557-ED6E-7239-C7A0C2A1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8" y="1549230"/>
            <a:ext cx="6624386" cy="50266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10DB2C-A6F0-A79E-2D4B-A91C3B550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90"/>
          <a:stretch>
            <a:fillRect/>
          </a:stretch>
        </p:blipFill>
        <p:spPr>
          <a:xfrm>
            <a:off x="6956242" y="2638520"/>
            <a:ext cx="5235758" cy="284808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2DD638-7C7B-E362-41C4-601121ECE52B}"/>
              </a:ext>
            </a:extLst>
          </p:cNvPr>
          <p:cNvCxnSpPr>
            <a:cxnSpLocks/>
          </p:cNvCxnSpPr>
          <p:nvPr/>
        </p:nvCxnSpPr>
        <p:spPr>
          <a:xfrm>
            <a:off x="6840396" y="1549230"/>
            <a:ext cx="5598" cy="50266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19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5F83-2317-382E-7BA6-C82AA820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Results, estimated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FAC08-7978-372D-D52B-6811C2A07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[25.183, -0.024, -0.808]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1</a:t>
            </a:r>
            <a:r>
              <a:rPr lang="el-GR" sz="1600" dirty="0"/>
              <a:t>σ</a:t>
            </a:r>
            <a:r>
              <a:rPr lang="en-US" sz="1600" dirty="0"/>
              <a:t>:	[0.588, 1.311, 1.263] m</a:t>
            </a: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13D1B242-9C3E-DC08-BA5B-3C884A2A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8" r="8639"/>
          <a:stretch>
            <a:fillRect/>
          </a:stretch>
        </p:blipFill>
        <p:spPr>
          <a:xfrm>
            <a:off x="838200" y="2511499"/>
            <a:ext cx="4726021" cy="3981376"/>
          </a:xfrm>
          <a:prstGeom prst="rect">
            <a:avLst/>
          </a:prstGeom>
        </p:spPr>
      </p:pic>
      <p:pic>
        <p:nvPicPr>
          <p:cNvPr id="7" name="Picture 6" descr="A graph of blue lines&#10;&#10;AI-generated content may be incorrect.">
            <a:extLst>
              <a:ext uri="{FF2B5EF4-FFF2-40B4-BE49-F238E27FC236}">
                <a16:creationId xmlns:a16="http://schemas.microsoft.com/office/drawing/2014/main" id="{447FE17F-C7AE-5C66-8F79-66D1268DB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221" y="1339243"/>
            <a:ext cx="6190863" cy="3721888"/>
          </a:xfrm>
          <a:prstGeom prst="rect">
            <a:avLst/>
          </a:prstGeom>
        </p:spPr>
      </p:pic>
      <p:pic>
        <p:nvPicPr>
          <p:cNvPr id="13" name="Picture 12" descr="A graph showing a line&#10;&#10;AI-generated content may be incorrect.">
            <a:extLst>
              <a:ext uri="{FF2B5EF4-FFF2-40B4-BE49-F238E27FC236}">
                <a16:creationId xmlns:a16="http://schemas.microsoft.com/office/drawing/2014/main" id="{D516D48E-7680-D922-62A1-33C150969B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296" y="5034137"/>
            <a:ext cx="5665504" cy="15411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4E0662-6610-348E-8CB7-9F29B0D61CFB}"/>
              </a:ext>
            </a:extLst>
          </p:cNvPr>
          <p:cNvSpPr txBox="1"/>
          <p:nvPr/>
        </p:nvSpPr>
        <p:spPr>
          <a:xfrm>
            <a:off x="0" y="6575328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Note – 1</a:t>
            </a:r>
            <a:r>
              <a:rPr lang="el-GR" sz="1200" dirty="0"/>
              <a:t>σ</a:t>
            </a:r>
            <a:r>
              <a:rPr lang="en-US" sz="1200" dirty="0"/>
              <a:t> values here are based on the distribution of the LS values, not KF covariances</a:t>
            </a:r>
          </a:p>
        </p:txBody>
      </p:sp>
    </p:spTree>
    <p:extLst>
      <p:ext uri="{BB962C8B-B14F-4D97-AF65-F5344CB8AC3E}">
        <p14:creationId xmlns:p14="http://schemas.microsoft.com/office/powerpoint/2010/main" val="357323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5DF5-D181-29C1-F5D7-73515545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8ADC-3C91-2833-97D1-C5A0F0F2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Results, actual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C6F4F-FAD6-0FDB-6916-3ED752B7C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8"/>
            <a:ext cx="4687111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[25.183, -0.024, -0.808]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Actual: 	[25.679 0.455 -0.002] m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RMS Error from actual position at final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epoch: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Horizontal = </a:t>
            </a:r>
            <a:r>
              <a:rPr lang="en-US" sz="1600" b="1" dirty="0"/>
              <a:t>0.689 m</a:t>
            </a:r>
            <a:r>
              <a:rPr lang="en-US" sz="1600" dirty="0"/>
              <a:t>, Vertical = </a:t>
            </a:r>
            <a:r>
              <a:rPr lang="en-US" sz="1600" b="1" dirty="0"/>
              <a:t>0.810 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blue lines&#10;&#10;AI-generated content may be incorrect.">
            <a:extLst>
              <a:ext uri="{FF2B5EF4-FFF2-40B4-BE49-F238E27FC236}">
                <a16:creationId xmlns:a16="http://schemas.microsoft.com/office/drawing/2014/main" id="{ED813AFF-5500-23E5-039B-C24119E23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6" r="6089"/>
          <a:stretch>
            <a:fillRect/>
          </a:stretch>
        </p:blipFill>
        <p:spPr>
          <a:xfrm>
            <a:off x="4571999" y="1397608"/>
            <a:ext cx="7315199" cy="517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0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9BBC-8D6A-A62A-28C4-BB86AB3B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2: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ACF77B-77F4-C9E0-509D-E88B81344C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900" b="1" dirty="0"/>
                  <a:t>Goal:</a:t>
                </a:r>
              </a:p>
              <a:p>
                <a:pPr lvl="1"/>
                <a:r>
                  <a:rPr lang="en-US" sz="1700" dirty="0"/>
                  <a:t>Improve on Problem 1 and achieve Horizontal &lt; 0.5m, Vertical &lt; 1 m RMS accuracy.</a:t>
                </a:r>
              </a:p>
              <a:p>
                <a:pPr marL="457200" lvl="1" indent="0">
                  <a:buNone/>
                </a:pPr>
                <a:endParaRPr lang="en-US" sz="1700" dirty="0"/>
              </a:p>
              <a:p>
                <a:r>
                  <a:rPr lang="en-US" sz="1900" b="1" dirty="0"/>
                  <a:t>Approach:</a:t>
                </a:r>
              </a:p>
              <a:p>
                <a:pPr lvl="1"/>
                <a:r>
                  <a:rPr lang="en-US" sz="1700" dirty="0"/>
                  <a:t>Apply Hatch carrier-code smoothing to reduce noise.</a:t>
                </a:r>
              </a:p>
              <a:p>
                <a:pPr lvl="1"/>
                <a:r>
                  <a:rPr lang="en-US" sz="1700" dirty="0"/>
                  <a:t>Apply elevation mask (10°) to remove low-elevation satellites.</a:t>
                </a:r>
              </a:p>
              <a:p>
                <a:pPr lvl="1"/>
                <a:r>
                  <a:rPr lang="en-US" sz="1700" dirty="0"/>
                  <a:t>Use smoothed single-difference measurements to compute LS baseline.</a:t>
                </a:r>
              </a:p>
              <a:p>
                <a:pPr lvl="1"/>
                <a:r>
                  <a:rPr lang="en-US" sz="1700" dirty="0"/>
                  <a:t>Use a Kalman Filter (KF) in ENU to incorporate temporal dynamics and smooth baseline estimates.</a:t>
                </a:r>
              </a:p>
              <a:p>
                <a:pPr lvl="1"/>
                <a:r>
                  <a:rPr lang="en-US" sz="1700" dirty="0"/>
                  <a:t>Final ENU position extracted from KF state.</a:t>
                </a:r>
              </a:p>
              <a:p>
                <a:r>
                  <a:rPr lang="en-US" sz="1900" b="1" dirty="0"/>
                  <a:t>Decisions:</a:t>
                </a:r>
                <a:endParaRPr lang="en-US" sz="1900" dirty="0"/>
              </a:p>
              <a:p>
                <a:pPr lvl="1"/>
                <a:r>
                  <a:rPr lang="en-US" sz="1700" dirty="0"/>
                  <a:t>Smoothing window </a:t>
                </a:r>
                <a14:m>
                  <m:oMath xmlns:m="http://schemas.openxmlformats.org/officeDocument/2006/math">
                    <m:r>
                      <a:rPr lang="en-US" sz="1700" i="1"/>
                      <m:t>𝑇</m:t>
                    </m:r>
                    <m:r>
                      <a:rPr lang="en-US" sz="1700"/>
                      <m:t>=100</m:t>
                    </m:r>
                  </m:oMath>
                </a14:m>
                <a:r>
                  <a:rPr lang="en-US" sz="1700" dirty="0"/>
                  <a:t>sec</a:t>
                </a:r>
              </a:p>
              <a:p>
                <a:pPr lvl="1"/>
                <a:r>
                  <a:rPr lang="en-US" sz="1700" dirty="0"/>
                  <a:t>Cycle-slip detection using </a:t>
                </a:r>
                <a14:m>
                  <m:oMath xmlns:m="http://schemas.openxmlformats.org/officeDocument/2006/math">
                    <m:r>
                      <a:rPr lang="en-US" sz="1700"/>
                      <m:t>∣</m:t>
                    </m:r>
                    <m:r>
                      <m:rPr>
                        <m:sty m:val="p"/>
                      </m:rPr>
                      <a:rPr lang="el-GR" sz="1700"/>
                      <m:t>Δ</m:t>
                    </m:r>
                    <m:r>
                      <a:rPr lang="el-GR" sz="1700" i="1"/>
                      <m:t>𝑃</m:t>
                    </m:r>
                    <m:r>
                      <a:rPr lang="el-GR" sz="1700"/>
                      <m:t>−</m:t>
                    </m:r>
                    <m:r>
                      <m:rPr>
                        <m:sty m:val="p"/>
                      </m:rPr>
                      <a:rPr lang="el-GR" sz="1700"/>
                      <m:t>Δ</m:t>
                    </m:r>
                    <m:r>
                      <a:rPr lang="el-GR" sz="1700" i="1"/>
                      <m:t>𝜙</m:t>
                    </m:r>
                    <m:r>
                      <a:rPr lang="en-US" sz="1700" b="0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700" dirty="0"/>
                  <a:t> threshold (differences between epochs)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ACF77B-77F4-C9E0-509D-E88B81344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00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8FDC-7FC5-2FFB-981C-A30593FE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F726-A774-C676-EBE1-DF425F1D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Method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7DE009-2401-3762-7752-5E4FAA60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146" y="1198764"/>
            <a:ext cx="5650305" cy="543546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D9AA3F-44A1-F436-044E-66196F82E575}"/>
              </a:ext>
            </a:extLst>
          </p:cNvPr>
          <p:cNvCxnSpPr>
            <a:cxnSpLocks/>
          </p:cNvCxnSpPr>
          <p:nvPr/>
        </p:nvCxnSpPr>
        <p:spPr>
          <a:xfrm>
            <a:off x="6321005" y="1403163"/>
            <a:ext cx="5598" cy="50266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00ADC73-A411-60E9-B03A-0F1D2B3B2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45" y="1403163"/>
            <a:ext cx="6003518" cy="49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6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CC19-5793-BD78-C464-5392EF5A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B242-EF9B-95F9-AB34-B412902B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Results, estimated error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7CB83F-44F1-AD9D-D0DC-7BBC3199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[25.428, 0.187, -0.556]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1</a:t>
            </a:r>
            <a:r>
              <a:rPr lang="el-GR" sz="1600" dirty="0"/>
              <a:t>σ</a:t>
            </a:r>
            <a:r>
              <a:rPr lang="en-US" sz="1600" dirty="0"/>
              <a:t>:	[0.415, 0.417, 0.871] m</a:t>
            </a:r>
          </a:p>
        </p:txBody>
      </p:sp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9ADF5436-8EDD-11B0-6379-80CD1A0FF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" r="6285"/>
          <a:stretch>
            <a:fillRect/>
          </a:stretch>
        </p:blipFill>
        <p:spPr>
          <a:xfrm>
            <a:off x="6096000" y="5114606"/>
            <a:ext cx="5095335" cy="1679172"/>
          </a:xfrm>
          <a:prstGeom prst="rect">
            <a:avLst/>
          </a:prstGeom>
        </p:spPr>
      </p:pic>
      <p:pic>
        <p:nvPicPr>
          <p:cNvPr id="11" name="Picture 10" descr="A graph of a graph showing a colorful object&#10;&#10;AI-generated content may be incorrect.">
            <a:extLst>
              <a:ext uri="{FF2B5EF4-FFF2-40B4-BE49-F238E27FC236}">
                <a16:creationId xmlns:a16="http://schemas.microsoft.com/office/drawing/2014/main" id="{0F43E7D9-17B7-5301-3925-24376C073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0" r="12719"/>
          <a:stretch>
            <a:fillRect/>
          </a:stretch>
        </p:blipFill>
        <p:spPr>
          <a:xfrm>
            <a:off x="838199" y="2181122"/>
            <a:ext cx="4795736" cy="4423959"/>
          </a:xfrm>
          <a:prstGeom prst="rect">
            <a:avLst/>
          </a:prstGeom>
        </p:spPr>
      </p:pic>
      <p:pic>
        <p:nvPicPr>
          <p:cNvPr id="16" name="Picture 15" descr="A graph of a patient&#10;&#10;AI-generated content may be incorrect.">
            <a:extLst>
              <a:ext uri="{FF2B5EF4-FFF2-40B4-BE49-F238E27FC236}">
                <a16:creationId xmlns:a16="http://schemas.microsoft.com/office/drawing/2014/main" id="{29B3AB30-223E-EC08-0A41-E07170D1C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1" r="6492"/>
          <a:stretch>
            <a:fillRect/>
          </a:stretch>
        </p:blipFill>
        <p:spPr>
          <a:xfrm>
            <a:off x="6096001" y="1339243"/>
            <a:ext cx="5257800" cy="368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1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00CC-459D-F434-5EF0-F83BD137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684B-8251-953E-6E82-195456A9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2: Results, actual error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07623C-23D7-2224-406E-2DE212C59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8"/>
            <a:ext cx="4687111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 [25.428, 0.187, -0.556]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Actual: 	[25.679 0.455 -0.002] m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RMS Error from actual position at final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epoch: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Horizontal = </a:t>
            </a:r>
            <a:r>
              <a:rPr lang="en-US" sz="1600" b="1" dirty="0"/>
              <a:t>0.367 m</a:t>
            </a:r>
            <a:r>
              <a:rPr lang="en-US" sz="1600" dirty="0"/>
              <a:t>, Vertical = </a:t>
            </a:r>
            <a:r>
              <a:rPr lang="en-US" sz="1600" b="1" dirty="0"/>
              <a:t>0.564 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graph with blue lines&#10;&#10;AI-generated content may be incorrect.">
            <a:extLst>
              <a:ext uri="{FF2B5EF4-FFF2-40B4-BE49-F238E27FC236}">
                <a16:creationId xmlns:a16="http://schemas.microsoft.com/office/drawing/2014/main" id="{0B03B05F-9A1F-DF74-49F4-339ED4CA7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5" r="6580"/>
          <a:stretch>
            <a:fillRect/>
          </a:stretch>
        </p:blipFill>
        <p:spPr>
          <a:xfrm>
            <a:off x="4437735" y="1397608"/>
            <a:ext cx="7754265" cy="54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65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0CF9-BA33-B0E7-8F85-44EB97FE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3: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AE852-BFBC-8EC8-D37E-1A7C6D0DC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Goal:</a:t>
            </a:r>
          </a:p>
          <a:p>
            <a:pPr lvl="1"/>
            <a:r>
              <a:rPr lang="en-US" sz="1600" dirty="0"/>
              <a:t>Achieve high-accuracy differential positioning, using </a:t>
            </a:r>
            <a:r>
              <a:rPr lang="en-US" sz="1600" i="1" dirty="0"/>
              <a:t>all tools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double-differencing, code + carrier, dynamic filtering, and ambiguity fixing.</a:t>
            </a:r>
          </a:p>
          <a:p>
            <a:pPr lvl="1"/>
            <a:r>
              <a:rPr lang="en-US" sz="1600" dirty="0"/>
              <a:t>Horizontal &lt; 0.1 m, Vertical &lt;0.2 m RMS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1800" b="1" dirty="0"/>
              <a:t>Approach:</a:t>
            </a:r>
            <a:endParaRPr lang="en-US" sz="1800" dirty="0"/>
          </a:p>
          <a:p>
            <a:pPr lvl="1"/>
            <a:r>
              <a:rPr lang="en-US" sz="1600" dirty="0"/>
              <a:t>Build double-difference (DD) code and DD phase observations.</a:t>
            </a:r>
          </a:p>
          <a:p>
            <a:pPr lvl="1"/>
            <a:r>
              <a:rPr lang="en-US" sz="1600" dirty="0"/>
              <a:t>Use a CV Kalman Filter in ECEF to jointly estimate baseline, velocity, and DD ambiguities.</a:t>
            </a:r>
          </a:p>
          <a:p>
            <a:pPr lvl="1"/>
            <a:r>
              <a:rPr lang="en-US" sz="1600" dirty="0"/>
              <a:t>Use LAMBDA integer ambiguity resolution for final fixed baseline.</a:t>
            </a:r>
          </a:p>
          <a:p>
            <a:pPr lvl="1"/>
            <a:r>
              <a:rPr lang="en-US" sz="1600" dirty="0"/>
              <a:t>Convert final ECEF baseline → ENU; compute 1</a:t>
            </a:r>
            <a:r>
              <a:rPr lang="el-GR" sz="1600" dirty="0"/>
              <a:t>σ </a:t>
            </a:r>
            <a:r>
              <a:rPr lang="en-US" sz="1600" dirty="0"/>
              <a:t>precision and RMS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3D13-193F-9550-199D-0E46F5E4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545B-B319-C0C9-BA83-5C794E87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3: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CBFBB-6C21-D3A2-B3B8-EC05F0DE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1" y="1258233"/>
            <a:ext cx="5830719" cy="523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C02F45-D4A0-3163-0D3F-C228AA9B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06" y="1258233"/>
            <a:ext cx="5722536" cy="406279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A77F2C-9250-3B8E-CF5F-127B080A4DF7}"/>
              </a:ext>
            </a:extLst>
          </p:cNvPr>
          <p:cNvCxnSpPr>
            <a:cxnSpLocks/>
          </p:cNvCxnSpPr>
          <p:nvPr/>
        </p:nvCxnSpPr>
        <p:spPr>
          <a:xfrm>
            <a:off x="6304008" y="1258233"/>
            <a:ext cx="5598" cy="51231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86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6272-8E0D-467A-9159-64D2B584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F889-C5DE-D010-5527-A976D411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3: Results, estimated error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281228-5E44-736F-4C43-333B61BD5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[25.284, 0.075, -0.855]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1</a:t>
            </a:r>
            <a:r>
              <a:rPr lang="el-GR" sz="1600" dirty="0"/>
              <a:t>σ</a:t>
            </a:r>
            <a:r>
              <a:rPr lang="en-US" sz="1600" dirty="0"/>
              <a:t>:	[0.027, 0.021, 0.069] m</a:t>
            </a:r>
          </a:p>
        </p:txBody>
      </p:sp>
      <p:pic>
        <p:nvPicPr>
          <p:cNvPr id="4" name="Picture 3" descr="A graph of a problem&#10;&#10;AI-generated content may be incorrect.">
            <a:extLst>
              <a:ext uri="{FF2B5EF4-FFF2-40B4-BE49-F238E27FC236}">
                <a16:creationId xmlns:a16="http://schemas.microsoft.com/office/drawing/2014/main" id="{0C41E555-EF0A-0530-80C0-C7767E81B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r="9963"/>
          <a:stretch>
            <a:fillRect/>
          </a:stretch>
        </p:blipFill>
        <p:spPr>
          <a:xfrm>
            <a:off x="838200" y="2217449"/>
            <a:ext cx="4931226" cy="4458399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32C96E2E-005B-2C07-CDE0-0D3BAE44E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9" r="6847"/>
          <a:stretch>
            <a:fillRect/>
          </a:stretch>
        </p:blipFill>
        <p:spPr>
          <a:xfrm>
            <a:off x="6096000" y="1339243"/>
            <a:ext cx="5368824" cy="3775363"/>
          </a:xfrm>
          <a:prstGeom prst="rect">
            <a:avLst/>
          </a:prstGeom>
        </p:spPr>
      </p:pic>
      <p:pic>
        <p:nvPicPr>
          <p:cNvPr id="12" name="Picture 11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57DC1D83-679C-46C5-6A74-B527DFB26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284" y="5114606"/>
            <a:ext cx="5427540" cy="169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2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2529-D159-0BCC-CD02-BF8480C9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2995-BCB0-3908-A702-456AE35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3: Results, actual error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3F8C0F-2C3D-FB9E-00F9-DF20EF5B7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8"/>
            <a:ext cx="4687111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Final Estimated Position: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ENU	[25.284, 0.075, -0.855]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Actual: 	[25.679 0.455 -0.002] m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RMS Error from actual position at final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epoch: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Horizontal = </a:t>
            </a:r>
            <a:r>
              <a:rPr lang="en-US" sz="1600" b="1" dirty="0"/>
              <a:t>0.470 m</a:t>
            </a:r>
            <a:r>
              <a:rPr lang="en-US" sz="1600" dirty="0"/>
              <a:t>, Vertical = </a:t>
            </a:r>
            <a:r>
              <a:rPr lang="en-US" sz="1600" b="1" dirty="0"/>
              <a:t>0.648 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8E201548-879E-17B9-2487-9C21ECCC3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7" r="7252"/>
          <a:stretch>
            <a:fillRect/>
          </a:stretch>
        </p:blipFill>
        <p:spPr>
          <a:xfrm>
            <a:off x="4430965" y="1397608"/>
            <a:ext cx="7624847" cy="54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35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2391C-72B6-D50E-64D7-DDE5C4F4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1-3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2406D8-51D8-2D9D-8D05-EC1444E6E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8"/>
            <a:ext cx="4687111" cy="435133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RMS Errors: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P1) Horizontal = </a:t>
            </a:r>
            <a:r>
              <a:rPr lang="en-US" sz="1600" b="1" dirty="0"/>
              <a:t>0.689 m</a:t>
            </a:r>
            <a:r>
              <a:rPr lang="en-US" sz="1600" dirty="0"/>
              <a:t>, Vertical = </a:t>
            </a:r>
            <a:r>
              <a:rPr lang="en-US" sz="1600" b="1" dirty="0"/>
              <a:t>0.810 m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P2) Horizontal = </a:t>
            </a:r>
            <a:r>
              <a:rPr lang="en-US" sz="1600" b="1" dirty="0"/>
              <a:t>0.367 m</a:t>
            </a:r>
            <a:r>
              <a:rPr lang="en-US" sz="1600" dirty="0"/>
              <a:t>, Vertical = </a:t>
            </a:r>
            <a:r>
              <a:rPr lang="en-US" sz="1600" b="1" dirty="0"/>
              <a:t>0.564 m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P3) Horizontal = </a:t>
            </a:r>
            <a:r>
              <a:rPr lang="en-US" sz="1600" b="1" dirty="0"/>
              <a:t>0.470 m</a:t>
            </a:r>
            <a:r>
              <a:rPr lang="en-US" sz="1600" dirty="0"/>
              <a:t>, Vertical = </a:t>
            </a:r>
            <a:r>
              <a:rPr lang="en-US" sz="1600" b="1" dirty="0"/>
              <a:t>0.648 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9E493004-D285-ED29-F4DF-43504C863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2" r="6384"/>
          <a:stretch>
            <a:fillRect/>
          </a:stretch>
        </p:blipFill>
        <p:spPr>
          <a:xfrm>
            <a:off x="0" y="2406698"/>
            <a:ext cx="6363511" cy="4323172"/>
          </a:xfrm>
          <a:prstGeom prst="rect">
            <a:avLst/>
          </a:prstGeom>
        </p:spPr>
      </p:pic>
      <p:pic>
        <p:nvPicPr>
          <p:cNvPr id="12" name="Picture 11" descr="A graph of a diagram&#10;&#10;AI-generated content may be incorrect.">
            <a:extLst>
              <a:ext uri="{FF2B5EF4-FFF2-40B4-BE49-F238E27FC236}">
                <a16:creationId xmlns:a16="http://schemas.microsoft.com/office/drawing/2014/main" id="{F98B9830-026A-147E-AF98-156506A94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6" r="4209"/>
          <a:stretch>
            <a:fillRect/>
          </a:stretch>
        </p:blipFill>
        <p:spPr>
          <a:xfrm>
            <a:off x="6363511" y="0"/>
            <a:ext cx="5758775" cy="453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79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535F-4072-7DF3-90F3-E88B22A5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4: Stand-alone Single Point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8DD43-491E-2D0D-7D15-E66F8E0E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Goal: Absolute Position of Antenna 2 </a:t>
            </a:r>
          </a:p>
          <a:p>
            <a:pPr lvl="1"/>
            <a:r>
              <a:rPr lang="en-US" sz="1600" dirty="0"/>
              <a:t>Compute latitude, longitude, height using GPS only</a:t>
            </a:r>
          </a:p>
          <a:p>
            <a:pPr lvl="1"/>
            <a:r>
              <a:rPr lang="en-US" sz="1600" dirty="0"/>
              <a:t>No reference antenna</a:t>
            </a:r>
          </a:p>
          <a:p>
            <a:pPr lvl="1"/>
            <a:r>
              <a:rPr lang="en-US" sz="1600" dirty="0"/>
              <a:t>Use broadcast ephemeris</a:t>
            </a:r>
          </a:p>
          <a:p>
            <a:pPr lvl="1"/>
            <a:r>
              <a:rPr lang="en-US" sz="1600" dirty="0"/>
              <a:t>Meet approx. ≤ 5 m horizontal, ≤ 10 m vertical accuracy</a:t>
            </a:r>
            <a:endParaRPr lang="en-US" sz="2000" b="1" dirty="0"/>
          </a:p>
          <a:p>
            <a:r>
              <a:rPr lang="en-US" sz="2000" b="1" dirty="0"/>
              <a:t>Approach</a:t>
            </a:r>
          </a:p>
          <a:p>
            <a:pPr lvl="1"/>
            <a:r>
              <a:rPr lang="en-US" sz="1600" dirty="0"/>
              <a:t>GPS </a:t>
            </a:r>
            <a:r>
              <a:rPr lang="en-US" sz="1600" dirty="0" err="1"/>
              <a:t>pseudorange</a:t>
            </a:r>
            <a:r>
              <a:rPr lang="en-US" sz="1600" dirty="0"/>
              <a:t> = geometric range + receiver clock error − satellite clock error + noise.</a:t>
            </a:r>
          </a:p>
          <a:p>
            <a:pPr lvl="1"/>
            <a:r>
              <a:rPr lang="en-US" sz="1600" dirty="0"/>
              <a:t>Satellite clock correction and transmit-time update from the broadcast ephemeris.</a:t>
            </a:r>
          </a:p>
          <a:p>
            <a:pPr lvl="1"/>
            <a:r>
              <a:rPr lang="en-US" sz="1600" dirty="0"/>
              <a:t>Linearize the model around a current estimate → build geometry matrix H from line-of-sight vectors.</a:t>
            </a:r>
          </a:p>
          <a:p>
            <a:pPr lvl="1"/>
            <a:r>
              <a:rPr lang="en-US" sz="1600" dirty="0"/>
              <a:t>Use iterative least squares to solve for position + clock bias each epoch.</a:t>
            </a:r>
          </a:p>
          <a:p>
            <a:pPr lvl="1"/>
            <a:r>
              <a:rPr lang="en-US" sz="1600" dirty="0"/>
              <a:t>Repeat for all epochs → average final ECEF position to get the final LLH solution.</a:t>
            </a:r>
            <a:endParaRPr lang="en-US" sz="2000" dirty="0"/>
          </a:p>
          <a:p>
            <a:r>
              <a:rPr lang="en-US" sz="2000" b="1" dirty="0"/>
              <a:t>Decisions/notes:</a:t>
            </a:r>
          </a:p>
          <a:p>
            <a:pPr lvl="1"/>
            <a:r>
              <a:rPr lang="en-US" sz="1600" dirty="0"/>
              <a:t>I treat the system as dynamic by assuming noise correlation between epochs (seconds)</a:t>
            </a:r>
          </a:p>
          <a:p>
            <a:pPr lvl="1"/>
            <a:r>
              <a:rPr lang="en-US" sz="1600" dirty="0"/>
              <a:t>Therefore, I negate this correlation by evaluating single point epochs every minute, instead of second</a:t>
            </a:r>
          </a:p>
          <a:p>
            <a:pPr lvl="1"/>
            <a:r>
              <a:rPr lang="en-US" sz="1600" dirty="0"/>
              <a:t>The final position is a Mean of the estimated positions, not a Kalman filter converged value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4470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F23A-E242-7EFE-E53B-5BD264C4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199D-8153-3BAC-98E7-346B0A28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4: Method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E6C789-DF97-E074-FEE8-B4E8C394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628"/>
          <a:stretch>
            <a:fillRect/>
          </a:stretch>
        </p:blipFill>
        <p:spPr>
          <a:xfrm>
            <a:off x="521445" y="1362175"/>
            <a:ext cx="6593733" cy="486352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DF1EC1-9402-2378-D0A2-A5009D104FB3}"/>
              </a:ext>
            </a:extLst>
          </p:cNvPr>
          <p:cNvCxnSpPr>
            <a:cxnSpLocks/>
          </p:cNvCxnSpPr>
          <p:nvPr/>
        </p:nvCxnSpPr>
        <p:spPr>
          <a:xfrm>
            <a:off x="7391401" y="982494"/>
            <a:ext cx="0" cy="51459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BEC41E2-5B38-4A28-C12D-3FB4B8A46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774513"/>
            <a:ext cx="452437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E8EB-7F92-4C99-FB31-6D8E29BF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4: Results, estimated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70E0-5D14-E85A-239E-2E29F0AD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Final Position Estimate (LS Mean):	Estimated Precision (</a:t>
            </a:r>
            <a:r>
              <a:rPr lang="el-GR" sz="1800" dirty="0"/>
              <a:t>1σ</a:t>
            </a:r>
            <a:r>
              <a:rPr lang="en-US" sz="1800" dirty="0"/>
              <a:t>)     LLH		 (</a:t>
            </a:r>
            <a:r>
              <a:rPr lang="el-GR" sz="1800" dirty="0"/>
              <a:t>1σ</a:t>
            </a:r>
            <a:r>
              <a:rPr lang="en-US" sz="1800" dirty="0"/>
              <a:t>) ECEF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 =    41.836872682 deg		</a:t>
            </a:r>
            <a:r>
              <a:rPr lang="el-GR" sz="1800" dirty="0"/>
              <a:t>σ</a:t>
            </a:r>
            <a:r>
              <a:rPr lang="pt-BR" sz="1800" dirty="0"/>
              <a:t>_lat = 5.535273e-06 deg			</a:t>
            </a:r>
            <a:r>
              <a:rPr lang="el-GR" sz="1800" dirty="0"/>
              <a:t>σ</a:t>
            </a:r>
            <a:r>
              <a:rPr lang="en-US" sz="1800" dirty="0"/>
              <a:t>_x = 0.640 m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 -87.626977509 deg		</a:t>
            </a:r>
            <a:r>
              <a:rPr lang="el-GR" sz="1800" dirty="0"/>
              <a:t>σ</a:t>
            </a:r>
            <a:r>
              <a:rPr lang="pt-BR" sz="1800" dirty="0"/>
              <a:t>_lon = 7.461291e-06 deg			</a:t>
            </a:r>
            <a:r>
              <a:rPr lang="el-GR" sz="1800" dirty="0"/>
              <a:t>σ</a:t>
            </a:r>
            <a:r>
              <a:rPr lang="en-US" sz="1800" dirty="0"/>
              <a:t>_y = 0.596 m</a:t>
            </a:r>
            <a:br>
              <a:rPr lang="en-US" sz="1800" dirty="0"/>
            </a:br>
            <a:r>
              <a:rPr lang="en-US" sz="1800" dirty="0"/>
              <a:t>h     = 189.817 m			</a:t>
            </a:r>
            <a:r>
              <a:rPr lang="el-GR" sz="1800" dirty="0"/>
              <a:t>σ</a:t>
            </a:r>
            <a:r>
              <a:rPr lang="pt-BR" sz="1800" dirty="0"/>
              <a:t>_h = 1.120 m				</a:t>
            </a:r>
            <a:r>
              <a:rPr lang="el-GR" sz="1800" dirty="0"/>
              <a:t>σ</a:t>
            </a:r>
            <a:r>
              <a:rPr lang="en-US" sz="1800" dirty="0"/>
              <a:t>_z = 1.119 m</a:t>
            </a:r>
          </a:p>
          <a:p>
            <a:pPr marL="0" indent="0">
              <a:buNone/>
            </a:pPr>
            <a:r>
              <a:rPr lang="en-US" sz="2000" dirty="0"/>
              <a:t>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10" descr="A graph of a problem&#10;&#10;AI-generated content may be incorrect.">
            <a:extLst>
              <a:ext uri="{FF2B5EF4-FFF2-40B4-BE49-F238E27FC236}">
                <a16:creationId xmlns:a16="http://schemas.microsoft.com/office/drawing/2014/main" id="{14B1B21C-CDB6-7967-8679-55A993A1A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0" y="2791265"/>
            <a:ext cx="6739445" cy="4066735"/>
          </a:xfrm>
          <a:prstGeom prst="rect">
            <a:avLst/>
          </a:prstGeom>
        </p:spPr>
      </p:pic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CA5A0D86-3094-C877-E279-DCC2555C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255" y="3429000"/>
            <a:ext cx="530374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7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81FA-F04C-71CE-77F6-31C2ECC8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4: Results, actual error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70442BE7-3AE0-3814-A8F0-2C1D477BC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33" y="1465703"/>
            <a:ext cx="8969367" cy="539229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6A3CD8-F6C9-8070-0D8D-C31F17C3B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5233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Mean Position Estimate:	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 =    41.836872682 deg	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 -87.626977509 deg	</a:t>
            </a:r>
            <a:br>
              <a:rPr lang="en-US" sz="1800" dirty="0"/>
            </a:br>
            <a:r>
              <a:rPr lang="en-US" sz="1800" dirty="0"/>
              <a:t>h     = 189.817 m		</a:t>
            </a:r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0" indent="0">
              <a:buNone/>
            </a:pPr>
            <a:r>
              <a:rPr lang="en-US" sz="1800" dirty="0"/>
              <a:t>Mean Position RMS (ENU)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E  =   30.543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N =    0.136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U =  -1.024 m</a:t>
            </a:r>
          </a:p>
          <a:p>
            <a:pPr marL="0" indent="0">
              <a:buNone/>
            </a:pPr>
            <a:r>
              <a:rPr lang="en-US" sz="1800" dirty="0"/>
              <a:t>H=30.543, V=1.024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5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AD09-2F8E-D9CD-379B-85780E34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4: Results (Final Epoch Estimate)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86D298-AC71-BB74-1D18-EC8B2FA2C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Final Position Estimate (Final Pos):	Estimated Precision (</a:t>
            </a:r>
            <a:r>
              <a:rPr lang="el-GR" sz="1800" dirty="0"/>
              <a:t>1σ</a:t>
            </a:r>
            <a:r>
              <a:rPr lang="en-US" sz="1800" dirty="0"/>
              <a:t>)     LLH		 (</a:t>
            </a:r>
            <a:r>
              <a:rPr lang="el-GR" sz="1800" dirty="0"/>
              <a:t>1σ</a:t>
            </a:r>
            <a:r>
              <a:rPr lang="en-US" sz="1800" dirty="0"/>
              <a:t>) ECEF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= 41.836793193 deg		</a:t>
            </a:r>
            <a:r>
              <a:rPr lang="el-GR" sz="1800" dirty="0"/>
              <a:t>σ</a:t>
            </a:r>
            <a:r>
              <a:rPr lang="pt-BR" sz="1800" dirty="0"/>
              <a:t>_lat = </a:t>
            </a:r>
            <a:r>
              <a:rPr lang="en-US" sz="1800" dirty="0"/>
              <a:t>7.391743e-05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_x = 4.306 m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-87.627028509deg		</a:t>
            </a:r>
            <a:r>
              <a:rPr lang="el-GR" sz="1800" dirty="0"/>
              <a:t>σ</a:t>
            </a:r>
            <a:r>
              <a:rPr lang="pt-BR" sz="1800" dirty="0"/>
              <a:t>_lon = </a:t>
            </a:r>
            <a:r>
              <a:rPr lang="en-US" sz="1800" dirty="0"/>
              <a:t>5.189732e-05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_y = 6.543 m</a:t>
            </a:r>
            <a:br>
              <a:rPr lang="en-US" sz="1800" dirty="0"/>
            </a:br>
            <a:r>
              <a:rPr lang="en-US" sz="1800" dirty="0"/>
              <a:t>h = 178.341 m			</a:t>
            </a:r>
            <a:r>
              <a:rPr lang="el-GR" sz="1800" dirty="0"/>
              <a:t>σ</a:t>
            </a:r>
            <a:r>
              <a:rPr lang="pt-BR" sz="1800" dirty="0"/>
              <a:t>_h = </a:t>
            </a:r>
            <a:r>
              <a:rPr lang="en-US" sz="1800" dirty="0"/>
              <a:t>7.907</a:t>
            </a:r>
            <a:r>
              <a:rPr lang="pt-BR" sz="1800" dirty="0"/>
              <a:t> m				</a:t>
            </a:r>
            <a:r>
              <a:rPr lang="el-GR" sz="1800" dirty="0"/>
              <a:t>σ</a:t>
            </a:r>
            <a:r>
              <a:rPr lang="en-US" sz="1800" dirty="0"/>
              <a:t>_z = 9.336 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Final Position RMS (ENU)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E  = 26.306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N = -8.693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U = -12.500 m</a:t>
            </a:r>
          </a:p>
          <a:p>
            <a:pPr marL="0" indent="0">
              <a:buNone/>
            </a:pPr>
            <a:r>
              <a:rPr lang="en-US" sz="1800" dirty="0"/>
              <a:t>H=27.705 m, V=12.500 m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" name="Picture 6" descr="A graph of a problem&#10;&#10;AI-generated content may be incorrect.">
            <a:extLst>
              <a:ext uri="{FF2B5EF4-FFF2-40B4-BE49-F238E27FC236}">
                <a16:creationId xmlns:a16="http://schemas.microsoft.com/office/drawing/2014/main" id="{E805765C-A338-8204-696B-852624DD1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671" y="2733563"/>
            <a:ext cx="6860449" cy="412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5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5D23-E322-622E-F1E3-9BBA421B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5: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FEE3D-17A1-12A3-4295-23F3D29A0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Goal: Improve on Problem 4</a:t>
            </a:r>
            <a:endParaRPr lang="en-US" dirty="0"/>
          </a:p>
          <a:p>
            <a:pPr lvl="1"/>
            <a:r>
              <a:rPr lang="en-US" dirty="0"/>
              <a:t>Initial Attempt:</a:t>
            </a:r>
          </a:p>
          <a:p>
            <a:pPr lvl="2"/>
            <a:r>
              <a:rPr lang="en-US" dirty="0"/>
              <a:t>Apply a Kalman filter to converge results</a:t>
            </a:r>
          </a:p>
          <a:p>
            <a:pPr lvl="2"/>
            <a:r>
              <a:rPr lang="en-US" dirty="0"/>
              <a:t>In practice, produced worse ENU errors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Then:</a:t>
            </a:r>
          </a:p>
          <a:p>
            <a:pPr lvl="2"/>
            <a:r>
              <a:rPr lang="en-US" dirty="0"/>
              <a:t>Used both code and carrier (L1C and C1C)</a:t>
            </a:r>
          </a:p>
          <a:p>
            <a:pPr lvl="2"/>
            <a:r>
              <a:rPr lang="en-US" dirty="0"/>
              <a:t>Applied a hatch filter (like problems 2 and 3)</a:t>
            </a:r>
          </a:p>
          <a:p>
            <a:pPr lvl="2"/>
            <a:r>
              <a:rPr lang="en-US" dirty="0"/>
              <a:t>Applied signal based weighting using C1C_SSI, building a SNR-weighted Least Squares solution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Results were still sub-optimal</a:t>
            </a:r>
          </a:p>
        </p:txBody>
      </p:sp>
    </p:spTree>
    <p:extLst>
      <p:ext uri="{BB962C8B-B14F-4D97-AF65-F5344CB8AC3E}">
        <p14:creationId xmlns:p14="http://schemas.microsoft.com/office/powerpoint/2010/main" val="3629898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324EFF-1CD6-67B1-442F-4B9127AD2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189" y="1279056"/>
            <a:ext cx="6097621" cy="5578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784E1-B6BE-5790-31EE-4F4ACDDA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5: Method</a:t>
            </a:r>
          </a:p>
        </p:txBody>
      </p:sp>
    </p:spTree>
    <p:extLst>
      <p:ext uri="{BB962C8B-B14F-4D97-AF65-F5344CB8AC3E}">
        <p14:creationId xmlns:p14="http://schemas.microsoft.com/office/powerpoint/2010/main" val="493820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5C36-E92F-D8D4-D041-6BEA0659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C4EC-56C7-1A2A-2B78-2DE8CBB8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5: Results, estimated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07A2-35A2-EBA6-A96A-93C7E0F1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Final Position Estimate:		Estimated Precision (</a:t>
            </a:r>
            <a:r>
              <a:rPr lang="el-GR" sz="2000" dirty="0"/>
              <a:t>1σ</a:t>
            </a:r>
            <a:r>
              <a:rPr lang="en-US" sz="2000" dirty="0"/>
              <a:t>)	LLH		 (</a:t>
            </a:r>
            <a:r>
              <a:rPr lang="el-GR" sz="2000" dirty="0"/>
              <a:t>1σ</a:t>
            </a:r>
            <a:r>
              <a:rPr lang="en-US" sz="2000" dirty="0"/>
              <a:t>) ECEF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 =    41.836868921 deg		</a:t>
            </a:r>
            <a:r>
              <a:rPr lang="el-GR" sz="1800" dirty="0"/>
              <a:t>σ</a:t>
            </a:r>
            <a:r>
              <a:rPr lang="pt-BR" sz="1800" dirty="0"/>
              <a:t>_lat = </a:t>
            </a:r>
            <a:r>
              <a:rPr lang="en-US" sz="1800" dirty="0"/>
              <a:t>4.710204e-06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_x = 0.566 m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 -87.626983093 deg		</a:t>
            </a:r>
            <a:r>
              <a:rPr lang="el-GR" sz="1800" dirty="0"/>
              <a:t>σ</a:t>
            </a:r>
            <a:r>
              <a:rPr lang="pt-BR" sz="1800" dirty="0"/>
              <a:t>_lon = </a:t>
            </a:r>
            <a:r>
              <a:rPr lang="en-US" sz="1800" dirty="0"/>
              <a:t>6.590610e-06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_y = 0.526 m</a:t>
            </a:r>
            <a:br>
              <a:rPr lang="en-US" sz="1800" dirty="0"/>
            </a:br>
            <a:r>
              <a:rPr lang="en-US" sz="1800" dirty="0"/>
              <a:t>h     = 186.951 m			</a:t>
            </a:r>
            <a:r>
              <a:rPr lang="el-GR" sz="1800" dirty="0"/>
              <a:t>σ</a:t>
            </a:r>
            <a:r>
              <a:rPr lang="pt-BR" sz="1800" dirty="0"/>
              <a:t>_h = </a:t>
            </a:r>
            <a:r>
              <a:rPr lang="en-US" sz="1800" dirty="0"/>
              <a:t>0.992</a:t>
            </a:r>
            <a:r>
              <a:rPr lang="pt-BR" sz="1800" dirty="0"/>
              <a:t> m				</a:t>
            </a:r>
            <a:r>
              <a:rPr lang="el-GR" sz="1800" dirty="0"/>
              <a:t>σ</a:t>
            </a:r>
            <a:r>
              <a:rPr lang="en-US" sz="1800" dirty="0"/>
              <a:t>_z = 0.980 m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6" descr="A graph of a problem&#10;&#10;AI-generated content may be incorrect.">
            <a:extLst>
              <a:ext uri="{FF2B5EF4-FFF2-40B4-BE49-F238E27FC236}">
                <a16:creationId xmlns:a16="http://schemas.microsoft.com/office/drawing/2014/main" id="{5B83AFA3-03C1-E0BD-E816-C5F72B55F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0" y="2791265"/>
            <a:ext cx="6739445" cy="4066734"/>
          </a:xfrm>
          <a:prstGeom prst="rect">
            <a:avLst/>
          </a:prstGeom>
        </p:spPr>
      </p:pic>
      <p:pic>
        <p:nvPicPr>
          <p:cNvPr id="8" name="Picture 7" descr="A graph with blue lines&#10;&#10;AI-generated content may be incorrect.">
            <a:extLst>
              <a:ext uri="{FF2B5EF4-FFF2-40B4-BE49-F238E27FC236}">
                <a16:creationId xmlns:a16="http://schemas.microsoft.com/office/drawing/2014/main" id="{7D30964B-2DDC-D63B-9B1D-43560B8F8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254" y="3429000"/>
            <a:ext cx="5303747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59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141E1-6A96-B4F2-3745-F0B565C8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9047-D26A-EBF4-9D9C-54BBA2A4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5: Results, actual error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48A4ADD9-6F5A-15DA-B703-D050A2BCB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33" y="1465701"/>
            <a:ext cx="8969367" cy="539229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15CCA7-4CCE-C89D-6FF1-95524835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5233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Final Position Estimate:	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 =    41.836868921 deg 	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 -87.626983093 deg 	</a:t>
            </a:r>
            <a:br>
              <a:rPr lang="en-US" sz="1800" dirty="0"/>
            </a:br>
            <a:r>
              <a:rPr lang="en-US" sz="1800" dirty="0"/>
              <a:t>h     = 186.951 m		</a:t>
            </a:r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0" indent="0">
              <a:buNone/>
            </a:pPr>
            <a:r>
              <a:rPr lang="en-US" sz="1800" dirty="0"/>
              <a:t>Mean Position RMS (ENU)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E  = 30.079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N = -0.282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U = -3.890 m</a:t>
            </a:r>
          </a:p>
          <a:p>
            <a:pPr marL="0" indent="0">
              <a:buNone/>
            </a:pPr>
            <a:r>
              <a:rPr lang="en-US" sz="1800" dirty="0"/>
              <a:t>H=30.080 m, V=3.890 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54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A02D-6AA9-7DA9-F9C8-0042E30C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FC5-1934-17E0-6A2F-F4B40E06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 5: Results (Final Epoch Estimate)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EF37D6-7448-49C4-8116-A1C3BF022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0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Final Position Estimate (Final Pos):	Estimated Precision (</a:t>
            </a:r>
            <a:r>
              <a:rPr lang="el-GR" sz="1800" dirty="0"/>
              <a:t>1σ</a:t>
            </a:r>
            <a:r>
              <a:rPr lang="en-US" sz="1800" dirty="0"/>
              <a:t>)     LLH		 (</a:t>
            </a:r>
            <a:r>
              <a:rPr lang="el-GR" sz="1800" dirty="0"/>
              <a:t>1σ</a:t>
            </a:r>
            <a:r>
              <a:rPr lang="en-US" sz="1800" dirty="0"/>
              <a:t>) ECEF</a:t>
            </a:r>
          </a:p>
          <a:p>
            <a:pPr marL="0" indent="0">
              <a:buNone/>
            </a:pPr>
            <a:r>
              <a:rPr lang="en-US" sz="1800" dirty="0" err="1"/>
              <a:t>lat</a:t>
            </a:r>
            <a:r>
              <a:rPr lang="en-US" sz="1800" dirty="0"/>
              <a:t>  = 41.836801158 deg		</a:t>
            </a:r>
            <a:r>
              <a:rPr lang="el-GR" sz="1800" dirty="0"/>
              <a:t>σ</a:t>
            </a:r>
            <a:r>
              <a:rPr lang="pt-BR" sz="1800" dirty="0"/>
              <a:t>_lat = </a:t>
            </a:r>
            <a:r>
              <a:rPr lang="en-US" sz="1800" dirty="0"/>
              <a:t>7.051474e-05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_x = 4.022 m</a:t>
            </a:r>
            <a:br>
              <a:rPr lang="en-US" sz="1800" dirty="0"/>
            </a:br>
            <a:r>
              <a:rPr lang="en-US" sz="1800" dirty="0" err="1"/>
              <a:t>lon</a:t>
            </a:r>
            <a:r>
              <a:rPr lang="en-US" sz="1800" dirty="0"/>
              <a:t> = -87.627027221 deg		</a:t>
            </a:r>
            <a:r>
              <a:rPr lang="el-GR" sz="1800" dirty="0"/>
              <a:t>σ</a:t>
            </a:r>
            <a:r>
              <a:rPr lang="pt-BR" sz="1800" dirty="0"/>
              <a:t>_lon = </a:t>
            </a:r>
            <a:r>
              <a:rPr lang="en-US" sz="1800" dirty="0"/>
              <a:t>4.848219e-05</a:t>
            </a:r>
            <a:r>
              <a:rPr lang="pt-BR" sz="1800" dirty="0"/>
              <a:t> deg			</a:t>
            </a:r>
            <a:r>
              <a:rPr lang="el-GR" sz="1800" dirty="0"/>
              <a:t>σ</a:t>
            </a:r>
            <a:r>
              <a:rPr lang="en-US" sz="1800" dirty="0"/>
              <a:t>_y = 6.466 m</a:t>
            </a:r>
            <a:br>
              <a:rPr lang="en-US" sz="1800" dirty="0"/>
            </a:br>
            <a:r>
              <a:rPr lang="en-US" sz="1800" dirty="0"/>
              <a:t>h     = 176.013 m			</a:t>
            </a:r>
            <a:r>
              <a:rPr lang="el-GR" sz="1800" dirty="0"/>
              <a:t>σ</a:t>
            </a:r>
            <a:r>
              <a:rPr lang="pt-BR" sz="1800" dirty="0"/>
              <a:t>_h = </a:t>
            </a:r>
            <a:r>
              <a:rPr lang="en-US" sz="1800" dirty="0"/>
              <a:t>7.580</a:t>
            </a:r>
            <a:r>
              <a:rPr lang="pt-BR" sz="1800" dirty="0"/>
              <a:t> m				</a:t>
            </a:r>
            <a:r>
              <a:rPr lang="el-GR" sz="1800" dirty="0"/>
              <a:t>σ</a:t>
            </a:r>
            <a:r>
              <a:rPr lang="en-US" sz="1800" dirty="0"/>
              <a:t>_z = 8.777 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Final Epoch RMS (ENU)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E  =   26.413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N =    -7.808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l-GR" sz="1800" dirty="0"/>
              <a:t>Δ</a:t>
            </a:r>
            <a:r>
              <a:rPr lang="en-US" sz="1800" dirty="0"/>
              <a:t>U =  -14.838 m</a:t>
            </a:r>
          </a:p>
          <a:p>
            <a:pPr marL="0" indent="0">
              <a:buNone/>
            </a:pPr>
            <a:r>
              <a:rPr lang="en-US" sz="1800" dirty="0"/>
              <a:t>H=27.543 m, V=14.828 m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graph of a problem&#10;&#10;AI-generated content may be incorrect.">
            <a:extLst>
              <a:ext uri="{FF2B5EF4-FFF2-40B4-BE49-F238E27FC236}">
                <a16:creationId xmlns:a16="http://schemas.microsoft.com/office/drawing/2014/main" id="{EC9CFB54-AF2B-DA80-57E5-C93C5C411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397" y="2882103"/>
            <a:ext cx="6006037" cy="361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64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47A2-C7D9-AAEC-6DA5-F1CCDC3C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Error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A20C9-0018-66B3-E3D6-69DE1A747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Problems 1-3</a:t>
            </a:r>
            <a:br>
              <a:rPr lang="en-US" sz="2000" dirty="0"/>
            </a:br>
            <a:r>
              <a:rPr lang="en-US" sz="2000" dirty="0"/>
              <a:t>RMS Errors (final position):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P1) Horizontal = </a:t>
            </a:r>
            <a:r>
              <a:rPr lang="en-US" sz="2000" b="1" dirty="0"/>
              <a:t>0.689 m</a:t>
            </a:r>
            <a:r>
              <a:rPr lang="en-US" sz="2000" dirty="0"/>
              <a:t>, Vertical = </a:t>
            </a:r>
            <a:r>
              <a:rPr lang="en-US" sz="2000" b="1" dirty="0"/>
              <a:t>0.810 m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P2) Horizontal = </a:t>
            </a:r>
            <a:r>
              <a:rPr lang="en-US" sz="2000" b="1" dirty="0"/>
              <a:t>0.367 m</a:t>
            </a:r>
            <a:r>
              <a:rPr lang="en-US" sz="2000" dirty="0"/>
              <a:t>, Vertical = </a:t>
            </a:r>
            <a:r>
              <a:rPr lang="en-US" sz="2000" b="1" dirty="0"/>
              <a:t>0.564 m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P3) Horizontal = </a:t>
            </a:r>
            <a:r>
              <a:rPr lang="en-US" sz="2000" b="1" dirty="0"/>
              <a:t>0.470 m</a:t>
            </a:r>
            <a:r>
              <a:rPr lang="en-US" sz="2000" dirty="0"/>
              <a:t>, Vertical = </a:t>
            </a:r>
            <a:r>
              <a:rPr lang="en-US" sz="2000" b="1" dirty="0"/>
              <a:t>0.648 m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Problems 4-5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RMS Errors (mean position  /  Final Position)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P4) Horizontal = </a:t>
            </a:r>
            <a:r>
              <a:rPr lang="en-US" sz="2000" b="1" dirty="0"/>
              <a:t>30.543 m</a:t>
            </a:r>
            <a:r>
              <a:rPr lang="en-US" sz="2000" dirty="0"/>
              <a:t>, Vertical = </a:t>
            </a:r>
            <a:r>
              <a:rPr lang="en-US" sz="2000" b="1" dirty="0"/>
              <a:t>1.024m </a:t>
            </a:r>
            <a:r>
              <a:rPr lang="en-US" sz="2000" dirty="0"/>
              <a:t>  |   Horizontal = 27.705 m, Vertical = 12.500 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P5) Horizontal = </a:t>
            </a:r>
            <a:r>
              <a:rPr lang="en-US" sz="2000" b="1" dirty="0"/>
              <a:t>30.080 m</a:t>
            </a:r>
            <a:r>
              <a:rPr lang="en-US" sz="2000" dirty="0"/>
              <a:t>, Vertical = </a:t>
            </a:r>
            <a:r>
              <a:rPr lang="en-US" sz="2000" b="1" dirty="0"/>
              <a:t>3.890 m</a:t>
            </a:r>
            <a:r>
              <a:rPr lang="en-US" sz="2000" dirty="0"/>
              <a:t>  |   Horizontal =27.543 m, Vertical = 14.828 m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/>
              <a:t>Future work:</a:t>
            </a:r>
          </a:p>
          <a:p>
            <a:pPr>
              <a:spcBef>
                <a:spcPts val="0"/>
              </a:spcBef>
            </a:pPr>
            <a:r>
              <a:rPr lang="en-US" sz="1900" dirty="0"/>
              <a:t>Improve error in problems 1-3</a:t>
            </a:r>
          </a:p>
          <a:p>
            <a:pPr lvl="1">
              <a:spcBef>
                <a:spcPts val="0"/>
              </a:spcBef>
            </a:pPr>
            <a:r>
              <a:rPr lang="en-US" sz="1500" dirty="0"/>
              <a:t>Analyze why there is drift at the end</a:t>
            </a:r>
          </a:p>
          <a:p>
            <a:pPr lvl="1">
              <a:spcBef>
                <a:spcPts val="0"/>
              </a:spcBef>
            </a:pPr>
            <a:r>
              <a:rPr lang="en-US" sz="1500" dirty="0"/>
              <a:t>Implement better cycle slip detection</a:t>
            </a: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Improve error in problems 4-5</a:t>
            </a:r>
          </a:p>
          <a:p>
            <a:pPr lvl="1">
              <a:spcBef>
                <a:spcPts val="0"/>
              </a:spcBef>
            </a:pPr>
            <a:r>
              <a:rPr lang="en-US" sz="1500" dirty="0"/>
              <a:t>Cycle slips</a:t>
            </a:r>
          </a:p>
          <a:p>
            <a:pPr lvl="1">
              <a:spcBef>
                <a:spcPts val="0"/>
              </a:spcBef>
            </a:pPr>
            <a:r>
              <a:rPr lang="en-US" sz="1500" dirty="0"/>
              <a:t>Improve height error</a:t>
            </a:r>
          </a:p>
          <a:p>
            <a:pPr lvl="1">
              <a:spcBef>
                <a:spcPts val="0"/>
              </a:spcBef>
            </a:pPr>
            <a:r>
              <a:rPr lang="en-US" sz="1500" dirty="0"/>
              <a:t>Kalman Filter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lvl="1">
              <a:spcBef>
                <a:spcPts val="0"/>
              </a:spcBef>
            </a:pPr>
            <a:endParaRPr lang="en-US" sz="1200" dirty="0"/>
          </a:p>
          <a:p>
            <a:pPr lvl="1">
              <a:spcBef>
                <a:spcPts val="0"/>
              </a:spcBef>
            </a:pPr>
            <a:endParaRPr lang="en-US" sz="12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887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1762</Words>
  <Application>Microsoft Office PowerPoint</Application>
  <PresentationFormat>Widescreen</PresentationFormat>
  <Paragraphs>241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MMAE 555 Final Presentation</vt:lpstr>
      <vt:lpstr>The Problems</vt:lpstr>
      <vt:lpstr>Problem 1: Overview</vt:lpstr>
      <vt:lpstr>Problem 1: Method</vt:lpstr>
      <vt:lpstr>Problem 1: Results, estimated error</vt:lpstr>
      <vt:lpstr>Problem 1: Results, actual error</vt:lpstr>
      <vt:lpstr>Problem 2: Overview</vt:lpstr>
      <vt:lpstr>Problem 2: Method</vt:lpstr>
      <vt:lpstr>Problem 2: Results, estimated error</vt:lpstr>
      <vt:lpstr>Problem 2: Results, actual error</vt:lpstr>
      <vt:lpstr>Problem 3: Overview</vt:lpstr>
      <vt:lpstr>Problem 3: Method</vt:lpstr>
      <vt:lpstr>Problem 3: Results, estimated error</vt:lpstr>
      <vt:lpstr>Problem 3: Results, actual error</vt:lpstr>
      <vt:lpstr>Problems 1-3</vt:lpstr>
      <vt:lpstr>Problem 4: Stand-alone Single Point Positioning</vt:lpstr>
      <vt:lpstr>Problem 4: Method</vt:lpstr>
      <vt:lpstr>Problem 4: Results, estimated precision</vt:lpstr>
      <vt:lpstr>Problem 4: Results, actual error</vt:lpstr>
      <vt:lpstr>Problem 4: Results (Final Epoch Estimate)</vt:lpstr>
      <vt:lpstr>Problem 5: Overview</vt:lpstr>
      <vt:lpstr>Problem 5: Method</vt:lpstr>
      <vt:lpstr>Problem 5: Results, estimated precision</vt:lpstr>
      <vt:lpstr>Problem 5: Results, actual error</vt:lpstr>
      <vt:lpstr>Problem 5: Results (Final Epoch Estimate)</vt:lpstr>
      <vt:lpstr>Error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Wilkes</dc:creator>
  <cp:lastModifiedBy>Jonah Wilkes</cp:lastModifiedBy>
  <cp:revision>6</cp:revision>
  <dcterms:created xsi:type="dcterms:W3CDTF">2025-12-02T23:32:44Z</dcterms:created>
  <dcterms:modified xsi:type="dcterms:W3CDTF">2025-12-03T18:06:55Z</dcterms:modified>
</cp:coreProperties>
</file>